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Amaç: iki ana destinasyonda aylık talebi şehir, ilçe ve otel seviyesinde tahmin etmek; 2026 gerçekleşmesiyle modeli sınamak ve iki şehri karşılaştırmak.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Açılış mesajı: model çalışıyor ve takvim düzeltmesi ciddi kazanç sağlıyor. Ama iki metodolojik uyarıyı baştan söyle ki güven kazan.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Filtreler bilinçli: günde 1-2 gecelik birimlerde tek rezervasyon sapması %100 hata üretir, bu da tabloyu yanıltır.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Metodolojinin güçlü yanı: tek model dayatmıyoruz, her birim için en iyisini ölçüyoruz. Takvim düzeltmesi de gizli bir regresör değil, açık ve denetlenebilir bir katsayı.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slayt tartışmayı yönetir. Yüksek MAPE gördüğünde panik yok — hacme bak.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Antalya bölümüne geçiş.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Antalya serisi modellemek için ideal: düzenli, yüksek hacimli, net mevsimsellik.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Sunumun en önemli görselı. 2026 eğrisinin diğerlerinden ayrıştığı noktayı ekranda göster.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Trend bileşeni istikrarlı yükseliyor, mevsimsel bileşen çok düzenli. Artıklar küçük — yani seri büyük ölçüde trend + mevsimsellik ile açıklanıyor.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Sunumun kalbi. Hatanın rastgele değil, açıklanabilir ve düzeltilebilir bir takvim etkisi olduğunu anlat. Rakamları ezberle: 36,95 → 17,62.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tabloyu ekranda göster. Ama %17,6'nın nasıl elde edildiğini 18. slaytta dürüstçe açıklayacağını da belirt.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Hata grafiği modelin yanlı olmadığını gösterir; bu güven verici bir kanıt.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Hacim dağılımını göster: Serik, Manavgat, Kemer ve Alanya Antalya talebinin büyük kısmını taşıyor. Aksu, Döşemealtı, Kepez neredeyse sıfır.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 panelde gerçek ve SARIMAX + düzeltme tahmini, WMAPE ve toplam inhouse hata oranı gösterilir.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dağılımının karışık olması bilinçli tasarımın sonucu — her ilçe kendi en iyi modelini kullanıyor.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Karar için seçilen 7 ilçe. Her panelde SARIMAX + takvim düzeltmesi, WMAPE ve toplam inhouse hata oranı yazılı.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slayt Ridge yerine SARIMAX + eğitim dönemi takvim düzeltmesini gösterir. WMAPE ile toplam inhouse hata oranı birlikte okunmalıdır.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Otellerin sezon yoğunluğunu ve birbirinden farklı doluluk profillerini gösterir. Koyu bantlar Temmuz-Ağustos yoğunluğu.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Hangi otelin büyüdüğü, hangisinin daraldığı burada görülür. Otel bazlı ticari görüşmelerde kullanılabilecek bir görsel.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Otel seviyesinde tek tek gezinme. 'Her otel için ayrı model seçtik' mesajını 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Antalya otellerinin sezon dışında da (az da olsa) satışı var. Bu, Muğla ile en büyük farklardan biri.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Muğla bölümüne geçiş.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Muğla'nın mevsimselliği Antalya'dan daha keskin: sezon dışı neredeyse sıfır. Ocak-Temmuz toplamında 2026 belirgin sıçrama gösteriyor.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Sezon dışı hacim toplamın çok küçük bir kısmı. Bu, yüzdesel metrikleri bozan yapısal bir özellik.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Muğla'da Haziran transfer faktörü 1,000 çıktı — yani talep Haziran'dan çekilmemiş. İki şehrin bayrama tepkisi farklı; bu ilginç bir bulgu.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Bodrum açık ara lider; Marmaris ve Fethiye onu takip ediyor. Muğla talebi Antalya'ya göre çok daha konsantre.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Bodrum'un zirvelerinin diğerlerini nasıl gölgede bıraktığını göster. Marmaris'in 2026'daki düşüşü de bu grafikte görülüyor.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Marmaris'i dürüstçe anlat — modelin sınırını gösteren iyi bir örnek. Datça ve Fethiye ise çok iyi çalışıyor.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 ilçenin ayrı paneli. Ortaca'nın toplam hatası %0,8 ile en iyi; Marmaris'in sapması gözle görülür.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Robinson Sarıgerme örneği metrik seçiminin neden önemli olduğunu somutlaştırır — 5. slayta geri bağla.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Otellerin sezon dışı çizgisinin neredeyse sıfırda yatay olduğunu göster — Muğla'nın yapısal özelliği.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slaytta 'hangisi daha iyi' sorusunun tek cevabı olmadığını anlat: ortalamaya bakarsan Antalya, en iyi birimlere bakarsan Muğla.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Sebep-sonuç slaytı. 'Model Antalya'da daha iyi' demek yerine 'Antalya'nın verisi modellemeye daha uygun' de. Fark modelden değil veriden geliyor.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ÖNEMLİ: Bu slaydı atlama. Biri 'bu rakam nasıl bu kadar iyi?' diye sorarsa hazırlıklı ol. Kendin söylersen güven kazanırsın, sorulursa savunmaya geçersin.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İkinci uyarı. Sorunu bulduğunu ve nasıl yamaladığını anlat, kalıcı çözümü de öner. Bu, olgun bir analiz izlenimi verir.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Riskleri sen söyle. Özellikle Marmaris, dışsal değişken eksikliği ve negatif tahmin konusunu.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Kapanış. Somut ve sahiplenilebilir aksiyonlar ver, soru-cevaba buradan geç.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Soru-cevap. Sık sorular: '%17,6 nasıl?' → 18. slayt. 'Hangi şehir daha iyi?' → 16. slayt. 'Marmaris ne oldu?' → 14. slayt.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Antalya &amp; Muğla Konaklama Talep Analizi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FFFFFF"/>
                </a:solidFill>
              </a:rPr>
              <a:t>Şehir · İlçe · Otel kırılımında inhouse (occupied nights) tahmini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ADB5BD"/>
                </a:solidFill>
              </a:rPr>
              <a:t>SARIMAX ve Prophet karşılaştırması + takvim (bayram) düzeltmeleri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ADB5BD"/>
                </a:solidFill>
              </a:rPr>
              <a:t>Veri: 2023-2026 Temmuz  |  Test: 2026 Ocak-Temmuz  |  Kaynak: notebooks/SARIMA.ipynb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ADB5BD"/>
                </a:solidFill>
              </a:rPr>
              <a:t>26 Ağustos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Yönetici Özeti</a:t>
            </a:r>
          </a:p>
          <a:p>
            <a:r>
              <a:rPr sz="1250">
                <a:solidFill>
                  <a:srgbClr val="CED4DA"/>
                </a:solidFill>
              </a:rPr>
              <a:t>2026 Ocak-Temmuz backtest, SARIMA.ipynb sonuçları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2743200" cy="1554480"/>
          </a:xfrm>
          <a:prstGeom prst="rect">
            <a:avLst/>
          </a:prstGeom>
          <a:solidFill>
            <a:srgbClr val="F1F3F5"/>
          </a:solidFill>
          <a:ln w="2540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 wrap="square"/>
          <a:lstStyle/>
          <a:p>
            <a:r>
              <a:rPr sz="1150">
                <a:solidFill>
                  <a:srgbClr val="6B7280"/>
                </a:solidFill>
              </a:rPr>
              <a:t>Antalya · şehir WMAPE</a:t>
            </a:r>
          </a:p>
          <a:p>
            <a:r>
              <a:rPr sz="2800" b="1">
                <a:solidFill>
                  <a:srgbClr val="E8590C"/>
                </a:solidFill>
              </a:rPr>
              <a:t>%17,6</a:t>
            </a:r>
          </a:p>
          <a:p>
            <a:r>
              <a:rPr sz="1050">
                <a:solidFill>
                  <a:srgbClr val="1F2937"/>
                </a:solidFill>
              </a:rPr>
              <a:t>Takvim düzeltmeli SARIMAX</a:t>
            </a:r>
          </a:p>
        </p:txBody>
      </p:sp>
      <p:sp>
        <p:nvSpPr>
          <p:cNvPr id="4" name="Rectangle 3"/>
          <p:cNvSpPr/>
          <p:nvPr/>
        </p:nvSpPr>
        <p:spPr>
          <a:xfrm>
            <a:off x="3447288" y="1188720"/>
            <a:ext cx="2743200" cy="1554480"/>
          </a:xfrm>
          <a:prstGeom prst="rect">
            <a:avLst/>
          </a:prstGeom>
          <a:solidFill>
            <a:srgbClr val="F1F3F5"/>
          </a:solidFill>
          <a:ln w="2540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 wrap="square"/>
          <a:lstStyle/>
          <a:p>
            <a:r>
              <a:rPr sz="1150">
                <a:solidFill>
                  <a:srgbClr val="6B7280"/>
                </a:solidFill>
              </a:rPr>
              <a:t>Antalya · düzeltmesiz</a:t>
            </a:r>
          </a:p>
          <a:p>
            <a:r>
              <a:rPr sz="2800" b="1">
                <a:solidFill>
                  <a:srgbClr val="E8590C"/>
                </a:solidFill>
              </a:rPr>
              <a:t>%37,0</a:t>
            </a:r>
          </a:p>
          <a:p>
            <a:r>
              <a:rPr sz="1050">
                <a:solidFill>
                  <a:srgbClr val="1F2937"/>
                </a:solidFill>
              </a:rPr>
              <a:t>SARIMAX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91656" y="1188720"/>
            <a:ext cx="2743200" cy="1554480"/>
          </a:xfrm>
          <a:prstGeom prst="rect">
            <a:avLst/>
          </a:prstGeom>
          <a:solidFill>
            <a:srgbClr val="F1F3F5"/>
          </a:solidFill>
          <a:ln w="25400">
            <a:solidFill>
              <a:srgbClr val="197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 wrap="square"/>
          <a:lstStyle/>
          <a:p>
            <a:r>
              <a:rPr sz="1150">
                <a:solidFill>
                  <a:srgbClr val="6B7280"/>
                </a:solidFill>
              </a:rPr>
              <a:t>Muğla · şehir WMAPE</a:t>
            </a:r>
          </a:p>
          <a:p>
            <a:r>
              <a:rPr sz="2800" b="1">
                <a:solidFill>
                  <a:srgbClr val="1971C2"/>
                </a:solidFill>
              </a:rPr>
              <a:t>%19,5</a:t>
            </a:r>
          </a:p>
          <a:p>
            <a:r>
              <a:rPr sz="1050">
                <a:solidFill>
                  <a:srgbClr val="1F2937"/>
                </a:solidFill>
              </a:rPr>
              <a:t>Takvim düzeltmeli SARIMAX</a:t>
            </a:r>
          </a:p>
        </p:txBody>
      </p:sp>
      <p:sp>
        <p:nvSpPr>
          <p:cNvPr id="6" name="Rectangle 5"/>
          <p:cNvSpPr/>
          <p:nvPr/>
        </p:nvSpPr>
        <p:spPr>
          <a:xfrm>
            <a:off x="9336024" y="1188720"/>
            <a:ext cx="2743200" cy="1554480"/>
          </a:xfrm>
          <a:prstGeom prst="rect">
            <a:avLst/>
          </a:prstGeom>
          <a:solidFill>
            <a:srgbClr val="F1F3F5"/>
          </a:solidFill>
          <a:ln w="25400">
            <a:solidFill>
              <a:srgbClr val="197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 wrap="square"/>
          <a:lstStyle/>
          <a:p>
            <a:r>
              <a:rPr sz="1150">
                <a:solidFill>
                  <a:srgbClr val="6B7280"/>
                </a:solidFill>
              </a:rPr>
              <a:t>Muğla · düzeltmesiz</a:t>
            </a:r>
          </a:p>
          <a:p>
            <a:r>
              <a:rPr sz="2800" b="1">
                <a:solidFill>
                  <a:srgbClr val="1971C2"/>
                </a:solidFill>
              </a:rPr>
              <a:t>%28,2</a:t>
            </a:r>
          </a:p>
          <a:p>
            <a:r>
              <a:rPr sz="1050">
                <a:solidFill>
                  <a:srgbClr val="1F2937"/>
                </a:solidFill>
              </a:rPr>
              <a:t>SARIMAX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63240"/>
            <a:ext cx="11064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Her iki şehirde de takvim (bayram) düzeltmesi hatayı yarı yarıya azaltıyor.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Antalya: %37,0 → %17,6 WMAPE   |   Muğla: %28,2 → %19,5 WMAPE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İlçe seviyesinde en iyi birimler: Antalya Kemer %22 · Muğla Datça %15, Fethiye %16.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Otel seviyesinde en iyi birimler: Antalya Sueno Deluxe Belek %32 · Muğla Divan Bodrum %19.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Model seçimi birim bazında yapıldı: bazı ilçe/otelde SARIMAX, bazısında Prophet kazandı.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İKİ UYARI (18. ve 30. slaytlarda detay):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6B7280"/>
                </a:solidFill>
              </a:rPr>
              <a:t>1) Takvim düzeltmesi 2026 gerçeğinden hesaplandığı için %17,6 kör tahmin başarısı değildir.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6B7280"/>
                </a:solidFill>
              </a:rPr>
              <a:t>2) SARIMAX uzun ufukta negatif değer üretiyor (2027 Haziran: -48.037) → 2027 için Prophet'e geçildi.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Karar önerisi: şehir ve yüksek hacimli ilçe/otellerde model kullanılabilir; Marmaris ve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6B7280"/>
                </a:solidFill>
              </a:rPr>
              <a:t>düşük hacimli birimlerde (Aksu, Döşemealtı, Milas) model çıktısı kullanılmamalı.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Veri ve Kapsam</a:t>
            </a:r>
          </a:p>
          <a:p>
            <a:r>
              <a:rPr sz="1250">
                <a:solidFill>
                  <a:srgbClr val="CED4DA"/>
                </a:solidFill>
              </a:rPr>
              <a:t>complete_cleaned_data_full.csv · voucher bazlı rezervasyon kayıtları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Hedef değişken: inhouse = occupied nights (konaklanan gece sayısı).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Her rezervasyon check-in ile check-out arasındaki günlere açılır ve gün gün sayılır.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Böylece 'satış tarihi' değil, 'konaklama tarihi' bazlı gerçek doluluk elde edilir.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checkout ≤ checkin olan ve tarihi eksik kayıtlar elenir.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Kapsam ve kırılımlar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Antalya: 2023-01 … 2026-07 aylık seri; 12 aktif ilçe; Top 20 otel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Muğla: 2022-01 … 2026-07 aylık seri; 10 aktif ilçe; Top 30 → filtreli 12 otel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 ilçe eşlemesi: hotel_region_name → resmi ilçe (55 bölge, elle hazırlanmış sözlük)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Muğla ilçe eşlemesi: anahtar kelime tabanlı (Bodrum, Marmaris, Fethiye, Datça, Ortaca…)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Hacim filtreleri (yüzdesel metriklerin patlamasını engellemek için)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 otel: 2023, 2024 ve 2025 Ocak-Temmuz inhouse ≥ 200 gece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Muğla otel: 2022-2025 her sezon (Mart-Ekim) inhouse ≥ 100 gece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Düşük hacimli ilçeler görsellerden çıkarıldı: Aksu, Döşemealtı, Finike, Kepez, Konyaaltı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Metodoloji</a:t>
            </a:r>
          </a:p>
          <a:p>
            <a:r>
              <a:rPr sz="1250">
                <a:solidFill>
                  <a:srgbClr val="CED4DA"/>
                </a:solidFill>
              </a:rPr>
              <a:t>İki aday model + açık takvim düzeltmesi + birim bazında otomatik seçim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Aday modeller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SARIMAX: (1,2,1)(1,0,0,12) şehir seviyesinde; (1,1,1)(1,0,0,12) ilçe/otel seviyesinde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Prophet: çarpımsal mevsimsellik, yıllık mevsimsellik açık, changepoint_prior 0.01-0.05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İlçe 2026 backtestinde ayrıca Ridge (ay etkileri + yıl trendi) kullanıldı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Takvim düzeltmeleri — bayram kaymasını yakalamak için dört parça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Mayıs uplift (+): Kurban Bayramı'nın Mayıs'a kayması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Haziran transfer (×): talebin Mayıs'a çekilmesi sonucu Haziran düşüşü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Mart uplift (+) ve Nisan transfer (×): Ramazan Bayramı kayması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Model seçimi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Her ilçe ve otel için tüm adaylar denenir, en düşük WMAPE'li model seçilir (MAE eşitlik bozucu).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Sonuç: bazı birimlerde SARIMAX, bazılarında Prophet kazandı — tek model dayatılmadı.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Değerlendirme dönemleri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Şehir/otel: eğitim 2023-2025 (Muğla 2022-2025), test 2026 Ocak-Temmuz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İlçe: eğitim 2023-2024, test 2025 tüm aylar; ayrıca 2023-2025 Mar-Tem → 2026 Mar-Tem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Metrikler Nasıl Okunmalı?</a:t>
            </a:r>
          </a:p>
          <a:p>
            <a:r>
              <a:rPr sz="1250">
                <a:solidFill>
                  <a:srgbClr val="CED4DA"/>
                </a:solidFill>
              </a:rPr>
              <a:t>Hangi karar hangi metrikle verilir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234440"/>
          <a:ext cx="1088135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644"/>
                <a:gridCol w="3264408"/>
                <a:gridCol w="5658307"/>
              </a:tblGrid>
              <a:tr h="396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Metrik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Formül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Ne zaman kullanılır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WMAPE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Σ|hata| / Σgerçek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Aylık isabet. Ay ay planlama ve fiyatlama için.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Toplam hata 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|Σtahmin − Σgerçek| / Σgerçek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Dönem toplamı. Kapasite ve kontenjan için.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MAPE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Ort(|hata| / gerçek)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Küçük aylarda patlar; düşük hacimde yanıltıcı.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Açıklanan varyans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Mevsimsel şekli ne kadar yakaladık.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Sezon MAE / inhouse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Sezon hatası / sezon hacmi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Sezon içi planlama kalitesi.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393192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Neden birden fazla metrik?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MAPE düşük hacimli aylarda anlamsızlaşır: Muğla Ocak ayı ~30 gece, 10 gecelik sapma %33 hata.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Aynı birimde MAPE %500, WMAPE %27 olabilir (örn. Manavgat 2026 Ridge backtesti).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Bu yüzden karar metriği olarak WMAPE ve toplam hata yüzdesi öne çıkarılıyor.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BÖLÜM 1 · ANTALYA</a:t>
            </a:r>
          </a:p>
          <a:p>
            <a:r>
              <a:rPr sz="1800">
                <a:solidFill>
                  <a:srgbClr val="FFE8D9"/>
                </a:solidFill>
              </a:rPr>
              <a:t>Şehir · 12 ilçe · Top 20 otel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Aylık Inhouse Serisi</a:t>
            </a:r>
          </a:p>
          <a:p>
            <a:r>
              <a:rPr sz="1250">
                <a:solidFill>
                  <a:srgbClr val="CED4DA"/>
                </a:solidFill>
              </a:rPr>
              <a:t>2023-01 … 2026-07, occupied nights</a:t>
            </a:r>
          </a:p>
        </p:txBody>
      </p:sp>
      <p:pic>
        <p:nvPicPr>
          <p:cNvPr id="3" name="Picture 2" descr="01_monthly_time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50579"/>
            <a:ext cx="7818120" cy="27340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66760" y="1280160"/>
            <a:ext cx="3611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Gözlemler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Çok güçlü ve düzenli yıllık mevsimsellik.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Temmuz-Ağustos zirve, Aralık-Şubat dip.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2023 → 2025 arasında net hacim büyümesi.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Modelleme açısından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Uzun, düzenli ve yüksek hacimli seri.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Mevsimsel farklanma gerekiyor (durağan değil).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Bu yapı SARIMAX için elverişli.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Yıl Bazlı Mevsimsel Eğriler</a:t>
            </a:r>
          </a:p>
          <a:p>
            <a:r>
              <a:rPr sz="1250">
                <a:solidFill>
                  <a:srgbClr val="CED4DA"/>
                </a:solidFill>
              </a:rPr>
              <a:t>Aylar x ekseninde, yıllar üst üste — takvim kaymasının görüldüğü grafik</a:t>
            </a:r>
          </a:p>
        </p:txBody>
      </p:sp>
      <p:pic>
        <p:nvPicPr>
          <p:cNvPr id="3" name="Picture 2" descr="01_seasona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19660"/>
            <a:ext cx="7818120" cy="3195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66760" y="1280160"/>
            <a:ext cx="3611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KRİTİK GÖZLEM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2023, 2024 ve 2025 eğrileri neredeyse aynı şekle sahip.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2026 eğrisi Mayıs'ta beklenmedik bir sıçrama yapıyor,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ardından Haziran'da geriliyor.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Sebep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Kurban Bayramı 2026'da Mayıs sonuna kaydı.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Talep Haziran'dan Mayıs'a öne çekildi.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Sonuç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Sabit aylık mevsimsellik öğrenen model burada şaşar.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Düzeltme gerekiyor → sonraki slayt.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Trend ve Mevsimsellik Ayrıştırması</a:t>
            </a:r>
          </a:p>
          <a:p>
            <a:r>
              <a:rPr sz="1250">
                <a:solidFill>
                  <a:srgbClr val="CED4DA"/>
                </a:solidFill>
              </a:rPr>
              <a:t>Additive decomposition (period = 12): gözlem, trend, mevsimsellik, artık</a:t>
            </a:r>
          </a:p>
        </p:txBody>
      </p:sp>
      <p:pic>
        <p:nvPicPr>
          <p:cNvPr id="3" name="Picture 2" descr="01_trend_seas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186" y="1051560"/>
            <a:ext cx="8661147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Takvim Etkisi ve Uygulanan Düzeltme</a:t>
            </a:r>
          </a:p>
          <a:p>
            <a:r>
              <a:rPr sz="1250">
                <a:solidFill>
                  <a:srgbClr val="CED4DA"/>
                </a:solidFill>
              </a:rPr>
              <a:t>Modelin en büyük hata kaynağı ve nasıl telafi edildi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Sorun: hicri takvim her yıl ~11 gün geriye kayar; sabit aylık mevsimsellik bunu göremez.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2025 Kurban: Haziran başı → 2026 Kurban: Mayıs sonu → 2027 Kurban: 16-19 Mayıs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2025 Ramazan: 30 Mart → 2026 Ramazan: 20 Mart → 2027 Ramazan: 9-11 Mart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Uygulanan dört düzeltme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Mayıs uplift: baseline'ın Mayıs'ta kaçırdığı hacim kadar ekleme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Haziran transfer faktörü = 0,648 → Haziran tahmini %35 aşağı çekiliyor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Mart uplift ve Nisan transfer: Ramazan kaymasının aynı mantıkla telafisi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Etki (2026 Ocak-Temmuz testi)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SARIMAX baseline WMAPE %36,95 → düzeltmeli %17,62  (yarı yarıya azalma)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MAE 3.968 → 1.892 gece   |   R² 0,850 → 0,975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Prophet'te de aynı yönde iyileşme: %42,18 → %23,16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2026 Backtest Sonuçları</a:t>
            </a:r>
          </a:p>
          <a:p>
            <a:r>
              <a:rPr sz="1250">
                <a:solidFill>
                  <a:srgbClr val="CED4DA"/>
                </a:solidFill>
              </a:rPr>
              <a:t>Ocak-Temmuz 2026, dört model karşılaştırması</a:t>
            </a:r>
          </a:p>
        </p:txBody>
      </p:sp>
      <p:pic>
        <p:nvPicPr>
          <p:cNvPr id="3" name="Picture 2" descr="03_test_prediction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2709"/>
            <a:ext cx="6949440" cy="293242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709160"/>
          <a:ext cx="6675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780"/>
                <a:gridCol w="1668780"/>
                <a:gridCol w="1668780"/>
                <a:gridCol w="1668780"/>
              </a:tblGrid>
              <a:tr h="2926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MAE (gece)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WMAPE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SARIMAX + takvim düzeltmesi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1.892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17,62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0,975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Prophet + takvim düzeltmesi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2.486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23,16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0,938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SARIMAX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3.968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36,95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0,850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Prophet baseline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4.529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42,18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0,792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234440"/>
            <a:ext cx="4389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Nasıl okunur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Siyah kalın çizgi: gerçek 2026 değerleri.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Turuncu: takvim düzeltmeli SARIMAX.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Mavi: takvim düzeltmeli Prophet.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Sonuç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SARIMAX + düzeltme açık ara en iyi (%17,6 WMAPE).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R² 0,975 → mevsimsel şekil neredeyse tam yakalanmış.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Prophet düzeltmeyle bile SARIMAX'ın gerisinde.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Not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Düzeltme katsayıları 2026 gerçeğinden türetildi.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Metodoloji uyarısı için 18. slayta bakın.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Aylık Hata Dağılımı</a:t>
            </a:r>
          </a:p>
          <a:p>
            <a:r>
              <a:rPr sz="1250">
                <a:solidFill>
                  <a:srgbClr val="CED4DA"/>
                </a:solidFill>
              </a:rPr>
              <a:t>Gerçek − tahmin, düzeltme uygulanmış modeller</a:t>
            </a:r>
          </a:p>
        </p:txBody>
      </p:sp>
      <p:pic>
        <p:nvPicPr>
          <p:cNvPr id="3" name="Picture 2" descr="03_forecast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50579"/>
            <a:ext cx="7818120" cy="27340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66760" y="1280160"/>
            <a:ext cx="3611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Gözlemler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Hatalar sıfır çizgisinin etrafında dağılıyor.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Sistematik bir yön (hep fazla/hep eksik) yok.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Bu neden iyi bir işaret?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Sistematik sapma olsaydı model yanlı olurdu.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Dağınık hata, kalan kısmın büyük ölçüde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öngörülemez gürültü olduğunu gösterir.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Dikkat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   • Zirve aylarda mutlak hata doğal olarak büyür;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</a:rPr>
              <a:t>yüzdesel olarak ise küçüktür.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İlçe Bazlı Sezon / Sezon Dışı Hacim</a:t>
            </a:r>
          </a:p>
          <a:p>
            <a:r>
              <a:rPr sz="1250">
                <a:solidFill>
                  <a:srgbClr val="CED4DA"/>
                </a:solidFill>
              </a:rPr>
              <a:t>Aktif ilçeler, 2023-2025 · Sezon: Mart-Ekim, Sezon dışı: Kasım-Şubat</a:t>
            </a:r>
          </a:p>
        </p:txBody>
      </p:sp>
      <p:pic>
        <p:nvPicPr>
          <p:cNvPr id="3" name="Picture 2" descr="24_cell24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7394"/>
            <a:ext cx="11612880" cy="47004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İlçe Bazlı 2025 Backtest</a:t>
            </a:r>
          </a:p>
          <a:p>
            <a:r>
              <a:rPr sz="1250">
                <a:solidFill>
                  <a:srgbClr val="CED4DA"/>
                </a:solidFill>
              </a:rPr>
              <a:t>Eğitim 2023-2024 → Test 2025 · SARIMAX + eğitim dönemi takvim düzeltmesi</a:t>
            </a:r>
          </a:p>
        </p:txBody>
      </p:sp>
      <p:pic>
        <p:nvPicPr>
          <p:cNvPr id="3" name="Picture 2" descr="sunum1_2025_distric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82196"/>
            <a:ext cx="11612880" cy="48708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İlçe Tahmin Kalitesi Sıralaması</a:t>
            </a:r>
          </a:p>
          <a:p>
            <a:r>
              <a:rPr sz="1250">
                <a:solidFill>
                  <a:srgbClr val="CED4DA"/>
                </a:solidFill>
              </a:rPr>
              <a:t>2025 backtest, sezon hata oranına göre</a:t>
            </a:r>
          </a:p>
        </p:txBody>
      </p:sp>
      <p:pic>
        <p:nvPicPr>
          <p:cNvPr id="3" name="Picture 2" descr="26_filtered_active_district_2025_error_ratio_rank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89997"/>
            <a:ext cx="6766560" cy="260952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0" y="1325880"/>
          <a:ext cx="452627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307"/>
                <a:gridCol w="1086307"/>
                <a:gridCol w="905256"/>
                <a:gridCol w="905256"/>
                <a:gridCol w="543153"/>
              </a:tblGrid>
              <a:tr h="35433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İlçe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WMAPE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Sezon hata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Kemer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SARIMAX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22,3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8,4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0,95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Kumluca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Prophet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32,7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8,8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0,88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Serik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SARIMAX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31,5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9,1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0,88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Muratpaşa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SARIMAX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30,4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14,0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0,70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Alanya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SARIMAX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27,1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22,5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Manavgat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Prophet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27,4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23,2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0,86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Kaş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Prophet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38,4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35,3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</a:rPr>
                        <a:t>0,79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4389120"/>
            <a:ext cx="4526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Öne çıkanlar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Kemer sezon hacminin %8'i kadar hata ile en iyi.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Model dağılımı karışık: 4 SARIMAX, 3 Prophet.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Yani tek model her ilçeye uymuyor.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Seçili 7 İlçe, 2025 Aylık Tahmin</a:t>
            </a:r>
          </a:p>
          <a:p>
            <a:r>
              <a:rPr sz="1250">
                <a:solidFill>
                  <a:srgbClr val="CED4DA"/>
                </a:solidFill>
              </a:rPr>
              <a:t>Alanya · Kaş · Kemer · Kumluca · Manavgat · Muratpaşa · Serik</a:t>
            </a:r>
          </a:p>
        </p:txBody>
      </p:sp>
      <p:pic>
        <p:nvPicPr>
          <p:cNvPr id="3" name="Picture 2" descr="sunum1_2025_distric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82196"/>
            <a:ext cx="11612880" cy="487084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İlçe 2026 Mart-Temmuz Backtesti</a:t>
            </a:r>
          </a:p>
          <a:p>
            <a:r>
              <a:rPr sz="1250">
                <a:solidFill>
                  <a:srgbClr val="CED4DA"/>
                </a:solidFill>
              </a:rPr>
              <a:t>SARIMAX + Mayıs/Haziran takvim düzeltmesi · eğitim 2023-2025</a:t>
            </a:r>
          </a:p>
        </p:txBody>
      </p:sp>
      <p:pic>
        <p:nvPicPr>
          <p:cNvPr id="3" name="Picture 2" descr="antalya_district_2026_wmap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14600"/>
            <a:ext cx="7315200" cy="256032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818120" y="1325880"/>
          <a:ext cx="402335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008"/>
                <a:gridCol w="885139"/>
                <a:gridCol w="1126540"/>
                <a:gridCol w="804672"/>
              </a:tblGrid>
              <a:tr h="35433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İlçe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WMAPE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Toplam hata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Alanya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27,3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9,2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Serik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29,1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13,3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0,87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Kumluca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29,6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20,7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Kemer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36,2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4,8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0,89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Muratpaşa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35,5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19,6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Manavgat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40,3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36,0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0,83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Kaş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98,4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96,1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18120" y="4389120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Okuma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Takvim düzeltmesi eğitim artıklarından hesaplandı.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En düşük toplam hata: Kemer (%4,8) ve Alanya (%9,2).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Kaş'ta düşük hacim nedeniyle oranlar yüksek; karar için dikkat.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Top 20 Otel, Aylık Inhouse Isı Haritası</a:t>
            </a:r>
          </a:p>
          <a:p>
            <a:r>
              <a:rPr sz="1250">
                <a:solidFill>
                  <a:srgbClr val="CED4DA"/>
                </a:solidFill>
              </a:rPr>
              <a:t>2023-01 … 2026-07, occupied nights</a:t>
            </a:r>
          </a:p>
        </p:txBody>
      </p:sp>
      <p:pic>
        <p:nvPicPr>
          <p:cNvPr id="3" name="Picture 2" descr="14_top20_hotels_monthly_inhous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88" y="1051560"/>
            <a:ext cx="11345343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Top 20 Otel, Yıl Bazlı Ocak-Temmuz Hacmi</a:t>
            </a:r>
          </a:p>
          <a:p>
            <a:r>
              <a:rPr sz="1250">
                <a:solidFill>
                  <a:srgbClr val="CED4DA"/>
                </a:solidFill>
              </a:rPr>
              <a:t>2023 · 2024 · 2025 · 2026 karşılaştırması</a:t>
            </a:r>
          </a:p>
        </p:txBody>
      </p:sp>
      <p:pic>
        <p:nvPicPr>
          <p:cNvPr id="3" name="Picture 2" descr="14_top20_hotels_january_july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078" y="1051560"/>
            <a:ext cx="8905363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Otel Bazlı 2026 Backtest</a:t>
            </a:r>
          </a:p>
          <a:p>
            <a:r>
              <a:rPr sz="1250">
                <a:solidFill>
                  <a:srgbClr val="CED4DA"/>
                </a:solidFill>
              </a:rPr>
              <a:t>SARIMAX + Mayıs/Haziran takvim düzeltmesi · filtre: 2023-2025 Ocak-Temmuz ≥ 200 gece</a:t>
            </a:r>
          </a:p>
        </p:txBody>
      </p:sp>
      <p:pic>
        <p:nvPicPr>
          <p:cNvPr id="3" name="Picture 2" descr="top20_2026_mar_jul_sarimax_may_june_backtes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" y="1097280"/>
            <a:ext cx="5934456" cy="539496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09560" y="1325880"/>
          <a:ext cx="3931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172"/>
                <a:gridCol w="982980"/>
                <a:gridCol w="589788"/>
                <a:gridCol w="589788"/>
                <a:gridCol w="393192"/>
              </a:tblGrid>
              <a:tr h="3429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</a:rPr>
                        <a:t>Otel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</a:rPr>
                        <a:t>WMAPE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</a:rPr>
                        <a:t>Toplam hata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Annabella Diamond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SARIMAX + düzeltme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22,2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14,3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0,85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Swandor Topkapı Palace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SARIMAX + düzeltme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22,6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13,0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0,78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Crystal Admiral Aqua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SARIMAX + düzeltme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27,0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26,1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0,83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Robinson Çamyuva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SARIMAX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33,5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31,7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0,84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Belek Beach Resort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SARIMAX + düzeltme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38,4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17,6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0,75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Sueno Hotels Deluxe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SARIMAX + düzeltme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40,0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22,4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0,74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Champion Holiday Village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SARIMAX + düzeltme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70,1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55,4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F2937"/>
                          </a:solidFill>
                        </a:rPr>
                        <a:t>0,47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09560" y="429768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Yorum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   • En iyi oteller %22-27 WMAPE bandında.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   • Toplam inhouse hata oranı ayrıca raporlanıyor.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   • Otel seviyesinde hata şehirden yüksek —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bu beklenen davranış (agregasyon gürültüyü söndürür).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   • %60 üzeri otellerde model önerilmez.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· Top 30 Otel, Sezon vs Sezon Dışı Hacim</a:t>
            </a:r>
          </a:p>
          <a:p>
            <a:r>
              <a:rPr sz="1250">
                <a:solidFill>
                  <a:srgbClr val="CED4DA"/>
                </a:solidFill>
              </a:rPr>
              <a:t>2023-2025 · Sezon: Mart-Ekim (sol), Sezon dışı: Kasım-Şubat (sağ)</a:t>
            </a:r>
          </a:p>
        </p:txBody>
      </p:sp>
      <p:pic>
        <p:nvPicPr>
          <p:cNvPr id="3" name="Picture 2" descr="17_top30_season_vs_offseason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150" y="1051560"/>
            <a:ext cx="771722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BÖLÜM 2 · MUĞLA</a:t>
            </a:r>
          </a:p>
          <a:p>
            <a:r>
              <a:rPr sz="1800">
                <a:solidFill>
                  <a:srgbClr val="D5E6F7"/>
                </a:solidFill>
              </a:rPr>
              <a:t>Şehir · 10 ilçe · filtreli 12 otel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Muğla · Yıl Bazlı Mevsimsel Eğriler ve Yıllık Toplam</a:t>
            </a:r>
          </a:p>
          <a:p>
            <a:r>
              <a:rPr sz="1250">
                <a:solidFill>
                  <a:srgbClr val="CED4DA"/>
                </a:solidFill>
              </a:rPr>
              <a:t>2022-2026 · sol: aylara göre yıl eğrileri, sağ: Ocak-Temmuz toplamı</a:t>
            </a:r>
          </a:p>
        </p:txBody>
      </p:sp>
      <p:pic>
        <p:nvPicPr>
          <p:cNvPr id="3" name="Picture 2" descr="34_cell34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16857"/>
            <a:ext cx="11612880" cy="38015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Muğla · Sezon ve Sezon Dışı Inhouse (2022-2026)</a:t>
            </a:r>
          </a:p>
          <a:p>
            <a:r>
              <a:rPr sz="1250">
                <a:solidFill>
                  <a:srgbClr val="CED4DA"/>
                </a:solidFill>
              </a:rPr>
              <a:t>Sol: yıl bazlı sezon/sezon dışı · Sağ: toplam</a:t>
            </a:r>
          </a:p>
        </p:txBody>
      </p:sp>
      <p:pic>
        <p:nvPicPr>
          <p:cNvPr id="3" name="Picture 2" descr="32_cell32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76862"/>
            <a:ext cx="11612880" cy="428151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Muğla · 2026 Backtest Sonuçları</a:t>
            </a:r>
          </a:p>
          <a:p>
            <a:r>
              <a:rPr sz="1250">
                <a:solidFill>
                  <a:srgbClr val="CED4DA"/>
                </a:solidFill>
              </a:rPr>
              <a:t>Ocak-Temmuz 2026, dört model + segment metrikleri</a:t>
            </a:r>
          </a:p>
        </p:txBody>
      </p:sp>
      <p:pic>
        <p:nvPicPr>
          <p:cNvPr id="3" name="Picture 2" descr="38_cell38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67295"/>
            <a:ext cx="7315200" cy="485493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818120" y="1325880"/>
          <a:ext cx="402335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0278"/>
                <a:gridCol w="724204"/>
                <a:gridCol w="885139"/>
                <a:gridCol w="643737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WMAPE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SARIMAX + takvim düzeltmesi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19,53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0,916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Prophet + takvim düzeltmesi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976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24,12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0,928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SARIMAX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1.143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28,24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Prophet baseline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1.176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29,05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0,912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18120" y="329184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Segment bazlı (SARIMAX düzeltmeli)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Sezon (28.237 gece): WMAE %19,5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Sezon dışı (91 gece): WMAE %32,8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Takvim düzeltme katsayıları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Mayıs uplift: +2.467 gece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Haziran transfer: 1,000 (Muğla'da düşüş yok)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Yorum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   • Muğla'da bayram etkisi Antalya'dakinin tersine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937"/>
                </a:solidFill>
              </a:rPr>
              <a:t>Haziran'ı düşürmemiş, Temmuz'u yükseltmiş.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Muğla · İlçe Bazlı Hacim ve Isı Haritası</a:t>
            </a:r>
          </a:p>
          <a:p>
            <a:r>
              <a:rPr sz="1250">
                <a:solidFill>
                  <a:srgbClr val="CED4DA"/>
                </a:solidFill>
              </a:rPr>
              <a:t>2022-2026 Temmuz, ilk 10 ilçe</a:t>
            </a:r>
          </a:p>
        </p:txBody>
      </p:sp>
      <p:pic>
        <p:nvPicPr>
          <p:cNvPr id="3" name="Picture 2" descr="35_cell35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84028"/>
            <a:ext cx="11612880" cy="406718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Muğla · İlçe Bazlı Aylık Trend (55 Ay)</a:t>
            </a:r>
          </a:p>
          <a:p>
            <a:r>
              <a:rPr sz="1250">
                <a:solidFill>
                  <a:srgbClr val="CED4DA"/>
                </a:solidFill>
              </a:rPr>
              <a:t>2022-01 … 2026-07, en yüksek hacimli 8 ilçe</a:t>
            </a:r>
          </a:p>
        </p:txBody>
      </p:sp>
      <p:pic>
        <p:nvPicPr>
          <p:cNvPr id="3" name="Picture 2" descr="36_cell3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91384"/>
            <a:ext cx="11612880" cy="445247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Muğla · İlçe Bazlı 2026 Backtest</a:t>
            </a:r>
          </a:p>
          <a:p>
            <a:r>
              <a:rPr sz="1250">
                <a:solidFill>
                  <a:srgbClr val="CED4DA"/>
                </a:solidFill>
              </a:rPr>
              <a:t>Her ilçe için SARIMAX/Prophet + takvim düzeltmesi</a:t>
            </a:r>
          </a:p>
        </p:txBody>
      </p:sp>
      <p:pic>
        <p:nvPicPr>
          <p:cNvPr id="3" name="Picture 2" descr="40_cell40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49535"/>
            <a:ext cx="7223760" cy="249044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26679" y="1325880"/>
          <a:ext cx="41148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256"/>
                <a:gridCol w="1069848"/>
                <a:gridCol w="740664"/>
                <a:gridCol w="905256"/>
                <a:gridCol w="493776"/>
              </a:tblGrid>
              <a:tr h="35433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İlçe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WMAPE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Sezon top. hata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Datça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SARIMAX_adj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15,2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4,2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Fethiye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Prophet_adj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16,3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4,6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0,97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Ortaca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SARIMAX_adj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23,7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Bodrum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SARIMAX_adj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27,2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21,0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0,84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Prophet_adj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28,2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7,2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Milas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SARIMAX_adj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85,2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32,6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0,04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Marmaris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SARIMAX_adj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201,1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192,3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-10,8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26679" y="438912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DİKKAT · Marmaris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   • WMAPE %201, R² −10,8 → model tamamen şaştı.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   • 2026'da Marmaris talebi sert düştü;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geçmişte örneği olmayan yapısal kırılma.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   • Bu ilçe için model çıktısı kullanılmamalı.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Muğla · İlçe Bazlı Sezonsal Panel Karşılaştırması</a:t>
            </a:r>
          </a:p>
          <a:p>
            <a:r>
              <a:rPr sz="1250">
                <a:solidFill>
                  <a:srgbClr val="CED4DA"/>
                </a:solidFill>
              </a:rPr>
              <a:t>Mart-Temmuz 2026 · her ilçe için gerçek, tahmin ve metrik kutusu</a:t>
            </a:r>
          </a:p>
        </p:txBody>
      </p:sp>
      <p:pic>
        <p:nvPicPr>
          <p:cNvPr id="3" name="Picture 2" descr="41_cell4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910" y="1051560"/>
            <a:ext cx="813570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Muğla · Otel Bazlı 2026 Backtest</a:t>
            </a:r>
          </a:p>
          <a:p>
            <a:r>
              <a:rPr sz="1250">
                <a:solidFill>
                  <a:srgbClr val="CED4DA"/>
                </a:solidFill>
              </a:rPr>
              <a:t>Filtre: 2022-2025 her sezon ≥ 100 gece → 30 otelden 12'si</a:t>
            </a:r>
          </a:p>
        </p:txBody>
      </p:sp>
      <p:pic>
        <p:nvPicPr>
          <p:cNvPr id="3" name="Picture 2" descr="49_mugla_12_2026_jan_jul_sarimax_may_june_backtes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36486"/>
            <a:ext cx="7406640" cy="53165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909560" y="1325880"/>
          <a:ext cx="393191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683"/>
                <a:gridCol w="943660"/>
                <a:gridCol w="1179576"/>
              </a:tblGrid>
              <a:tr h="3429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Otel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WMAPE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Sezon top. hata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Divan Bodrum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18,8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15,3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Costa Farilya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23,8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16,9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Golden Age Yalıkavak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35,6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18,4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Manaspark Deluxe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37,1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29,7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Xanadu Island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42,5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42,4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Robinson Sarıgerme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50,6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2,7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Hillside Beach Club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51,2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</a:rPr>
                        <a:t>6,7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09560" y="429768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Dikkat çekici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   • Robinson Sarıgerme WMAPE %50 ama sezon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toplam hatası sadece %2,7.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   • Yani aylık dağılım şaşmış, toplam tutmuş.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F2937"/>
                </a:solidFill>
              </a:rPr>
              <a:t>   • Kontenjan planlaması için toplam hata daha önemli.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Muğla · Filtreli 12 Otel, Sezon ve Sezon Dışı Trend</a:t>
            </a:r>
          </a:p>
          <a:p>
            <a:r>
              <a:rPr sz="1250">
                <a:solidFill>
                  <a:srgbClr val="CED4DA"/>
                </a:solidFill>
              </a:rPr>
              <a:t>2022-2026 · turuncu: sezon (Mar-Eki), mavi: sezon dışı (Kas-Şub)</a:t>
            </a:r>
          </a:p>
        </p:txBody>
      </p:sp>
      <p:pic>
        <p:nvPicPr>
          <p:cNvPr id="3" name="Picture 2" descr="50_cell50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41" y="1051560"/>
            <a:ext cx="10996838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Antalya vs Muğla · Seviye Seviye Karşılaştırma</a:t>
            </a:r>
          </a:p>
          <a:p>
            <a:r>
              <a:rPr sz="1250">
                <a:solidFill>
                  <a:srgbClr val="CED4DA"/>
                </a:solidFill>
              </a:rPr>
              <a:t>2026 backtest, en iyi modeller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6423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7987"/>
                <a:gridCol w="1991563"/>
                <a:gridCol w="1991563"/>
                <a:gridCol w="3983126"/>
              </a:tblGrid>
              <a:tr h="37882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Seviye / Metrik (WMAPE %)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Antalya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Muğla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Yorum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Şehir (2026 Oca-Tem)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17,6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19,5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Antalya biraz önde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Şehir · düzeltmesiz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37,0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28,2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Muğla baseline'da daha iyi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Düzeltme kazancı (puan)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19,3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8,7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Antalya'da etki çok daha büyük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En iyi ilçe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Kemer %22,3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Datça %15,2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Muğla'nın en iyisi daha iyi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En kötü ilçe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Kaş %38,4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Marmaris %201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Muğla'da uç sapma var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En iyi otel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Sueno Belek %31,9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Divan Bodrum %18,8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937"/>
                          </a:solidFill>
                        </a:rPr>
                        <a:t>Muğla'nın en iyisi daha iyi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16052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Kritik ayrım: ortalama mı, uç değerler mi?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Muğla'nın EN İYİ birimleri Antalya'nınkinden daha iyi (Datça %15, Divan Bodrum %19).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Ama Muğla'nın EN KÖTÜ birimi çok daha kötü (Marmaris %201, R² −10,8).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Yani Muğla'da varyans yüksek: bazı ilçelerde mükemmel, bazılarında kullanılamaz.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 daha dengeli: en iyi %22, en kötü %38 — dar bir bant.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İş kararı açısından: Antalya'da modele genel olarak güvenilebilir; Muğla'da birim birim seçim şart.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Neden Bu Farklar Oluşuyor?</a:t>
            </a:r>
          </a:p>
          <a:p>
            <a:r>
              <a:rPr sz="1250">
                <a:solidFill>
                  <a:srgbClr val="CED4DA"/>
                </a:solidFill>
              </a:rPr>
              <a:t>İki şehrin talep karakteri ve modele etkisi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1) Hacim ve gürültü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 rezervasyon hacmi Muğla'nın yaklaşık 2,5 katı → oransal gürültü daha düşük.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Yüksek hacim, mevsimsel yapının daha net öğrenilmesini sağlıyor.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2) Talebin dağılımı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Antalya: talep 12 ilçeye yayılmış (Serik, Manavgat, Alanya, Kemer dengeli paylaşıyor).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Muğla: Bodrum tek başına baskın; Marmaris ve Fethiye ikinci grup, kalanlar çok küçük.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Konsantrasyon, tek bir ilçedeki kırılmanın toplamı bozmasına yol açıyor (Marmaris örneği).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3) Sezon uzunluğu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Antalya'da sezon dışı da satış var (Ocak ~1.000 gece mertebesinde).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Muğla'da sezon dışı neredeyse sıfır (Ocak ~30 gece) → yüzdesel metrikler patlıyor.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4) Bayrama tepki farkı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Antalya: Kurban Mayıs'a kayınca Haziran çöktü (transfer faktörü 0,648).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Muğla: Haziran düşmedi (faktör 1,000), etki Temmuz zirvesini büyüttü.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Aynı takvim olayı iki destinasyonda farklı davranış üretiyor → ayrı kalibrasyon gerekli.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9C2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Metodolojik Uyarı 1 · Kalibrasyon Sızıntısı</a:t>
            </a:r>
          </a:p>
          <a:p>
            <a:r>
              <a:rPr sz="1250">
                <a:solidFill>
                  <a:srgbClr val="CED4DA"/>
                </a:solidFill>
              </a:rPr>
              <a:t>%17,6 rakamı nasıl okunmalı?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Takvim düzeltme katsayıları şu şekilde hesaplandı: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Mayıs uplift = 2026 Mayıs GERÇEĞİ − baseline tahmini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Haziran transfer = 2026 Haziran GERÇEĞİ / geçmiş Haziran ortalaması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Yani düzeltme, test döneminin gerçek değerlerini kullanıyor.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Bu nedenle %17,62 kör (out-of-sample) bir tahmin başarısı DEĞİLDİR.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Doğru okunuşu: 'Bayram kaymasını bildiğimizi varsayarsak kalan hata %17,6'dır.'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Gerçek kör tahmin performansı baseline değerleridir: Antalya %37,0, Muğla %28,2.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Bu bir hata mı? Hayır — ama etiketlenmesi şart.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Amaç, hatanın ne kadarının takvim kaynaklı olduğunu ölçmekti; bu ölçüm başarılı.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2027 tahmininde aynı katsayılar ileriye taşınıyor; bu makul çünkü bayram tarihleri bilinir.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Öneri: sunumda iki rakamı birlikte verin.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1F2937"/>
                </a:solidFill>
              </a:rPr>
              <a:t>   • 'Düzeltmesiz %37 → takvim etkisini modellediğimizde %17,6'ya iniyor.'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9C2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Metodolojik Uyarı 2 · Uzun Ufuk ve 2027 Tahmini</a:t>
            </a:r>
          </a:p>
          <a:p>
            <a:r>
              <a:rPr sz="1250">
                <a:solidFill>
                  <a:srgbClr val="CED4DA"/>
                </a:solidFill>
              </a:rPr>
              <a:t>SARIMAX ileri ufukta neden kullanılamadı?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Notebook çıktısındaki bulgu: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SARIMAX ile üretilen 2027 Haziran tahmini: −48.037 gece (negatif).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Occupied nights negatif olamaz → model uzun ufukta patlıyor.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Kök neden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order=(1,2,1) ile ikinci dereceden farklanma + sabit trend terimi,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ileri ufukta doğrusal trendi kontrolsüz biçimde uzatıyor.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Uygulanan çözüm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2027 tahmini için Prophet baseline'a geçildi (pozitif kalıyor).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Takvim düzeltmeleri (Mayıs uplift, Haziran/Nisan transfer, Mart uplift) Prophet üzerine eklendi.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2027 Mayıs için ek bir taban kuralı: tahmin 2026 Mayıs gerçeğinin altına düşemez.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Kalan risk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Bu bir yama; modelin kendisi düzeltilmedi.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Kalıcı çözüm: trend terimini kaldırmak (trend='n') veya log dönüşümü uygulamak,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7280"/>
                </a:solidFill>
              </a:rPr>
              <a:t>tahmin ufkunu 6 aya indirip her ay yeniden eğitmek (rolling refit).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2027 çıktısı yayınlanmadan önce sezon dışı aylar geçmiş ortalama ile kıyaslanmalı.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Riskler ve Modelin Sınırları</a:t>
            </a:r>
          </a:p>
          <a:p>
            <a:r>
              <a:rPr sz="1250">
                <a:solidFill>
                  <a:srgbClr val="CED4DA"/>
                </a:solidFill>
              </a:rPr>
              <a:t>Dürüst değerlendirme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Veri sınırları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 için 3,5 yıllık, Muğla için 4,5 yıllık geçmiş; mevsimsellik için ideal olan 6+ yıl değil.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2026 verisi Temmuz'da bitiyor; yıl sonu davranışı gözlenemedi.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Muğla ilçe eşlemesi anahtar kelime tabanlı; resmi ilçe master'ı ile doğrulanmalı.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Model sınırları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Fiyat, kampanya, kur, rakip kapasitesi gibi dışsal değişkenler modelde yok.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Yapısal kırılmalar öngörülemiyor (Marmaris 2026: WMAPE %201, R² −10,8).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SARIMAX uzun ufukta negatif üretiyor; 2027 için Prophet yaması kullanıldı.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Kullanım sınırları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Düşük hacimli birimlerde yüzdesel metrikler yanıltıcı; mutlak hataya bakılmalı.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WMAPE %60 üzeri ilçe/otellerde model çıktısı karar için kullanılmamalı.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Takvim düzeltmesi, bayram etkisinin geçmiştekiyle benzer tekrarlanacağı varsayımına dayanıyor.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l"/>
            <a:r>
              <a:rPr sz="2700" b="1">
                <a:solidFill>
                  <a:srgbClr val="FFFFFF"/>
                </a:solidFill>
              </a:rPr>
              <a:t>Öneriler ve Sonraki Adımlar</a:t>
            </a:r>
          </a:p>
          <a:p>
            <a:r>
              <a:rPr sz="1250">
                <a:solidFill>
                  <a:srgbClr val="CED4DA"/>
                </a:solidFill>
              </a:rPr>
              <a:t>Kısa ve orta vadeli aksiyon planı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Hemen kullanılabilir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 ve Muğla şehir seviyesi tahminleri sezon planlamasında referans alınabilir.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Antalya'da Kemer, Kumluca, Serik, Muratpaşa, Alanya, Manavgat ilçeleri (sezon hatası ≤ %23).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Muğla'da Datça, Fethiye, Ortaca, Ula ilçeleri (sezon toplam hatası ≤ %7).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Otel seviyesinde: Antalya'da ilk 3, Muğla'da ilk 4 otel.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Kullanmadan önce düzelt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2027 ileri tahmini: sezon dışı ay kontrolü yapılmadan yayınlanmamalı.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Marmaris ve düşük hacimli birimler için model yerine ticari ekip görüşü.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Model iyileştirme yol haritası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Bayram tarihlerini gerçek takvimden dışsal değişken (exog) olarak modele ekle → sızıntı biter.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SARIMAX'ta trend terimini kaldır veya log dönüşümü uygula → negatif tahmin sorunu çözülür.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Tahmin ufkunu 6 aya indir, her ay yeni gerçekleşmeyle yeniden eğit (rolling refit).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Fiyat ve kampanya verisini modele bağla; talep esnekliğini yakala.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</a:rPr>
              <a:t>   • Otomatik akıl testi ekle: geçmiş ay ortalamasından 3 kat sapma → uyarı üret.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Teşekkürler · Sorular</a:t>
            </a:r>
          </a:p>
          <a:p>
            <a:pPr>
              <a:spcBef>
                <a:spcPts val="900"/>
              </a:spcBef>
            </a:pPr>
            <a:r>
              <a:rPr sz="1450">
                <a:solidFill>
                  <a:srgbClr val="ADB5BD"/>
                </a:solidFill>
              </a:rPr>
              <a:t>Analiz defteri: notebooks/SARIMA.ipynb</a:t>
            </a:r>
          </a:p>
          <a:p>
            <a:pPr>
              <a:spcBef>
                <a:spcPts val="900"/>
              </a:spcBef>
            </a:pPr>
            <a:r>
              <a:rPr sz="1450">
                <a:solidFill>
                  <a:srgbClr val="ADB5BD"/>
                </a:solidFill>
              </a:rPr>
              <a:t>Sunum görselleri: SUNUM1/gorseller/ (57 grafik)</a:t>
            </a:r>
          </a:p>
          <a:p>
            <a:pPr>
              <a:spcBef>
                <a:spcPts val="900"/>
              </a:spcBef>
            </a:pPr>
            <a:r>
              <a:rPr sz="1450">
                <a:solidFill>
                  <a:srgbClr val="ADB5BD"/>
                </a:solidFill>
              </a:rPr>
              <a:t>Sunum planı ve konuşma notları: SUNUM1/SUNUM_PLANI.md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